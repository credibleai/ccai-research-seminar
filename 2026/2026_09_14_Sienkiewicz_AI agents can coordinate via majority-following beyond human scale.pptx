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exend Deca Light"/>
      <p:regular r:id="rId26"/>
      <p:bold r:id="rId27"/>
    </p:embeddedFont>
    <p:embeddedFont>
      <p:font typeface="Lexend Dec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DecaLight-regular.fntdata"/><Relationship Id="rId25" Type="http://schemas.openxmlformats.org/officeDocument/2006/relationships/slide" Target="slides/slide20.xml"/><Relationship Id="rId28" Type="http://schemas.openxmlformats.org/officeDocument/2006/relationships/font" Target="fonts/LexendDeca-regular.fntdata"/><Relationship Id="rId27" Type="http://schemas.openxmlformats.org/officeDocument/2006/relationships/font" Target="fonts/LexendDeca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De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cb07b34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cb07b34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85cc393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085cc393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41651cfd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b41651cfd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41651cfd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41651cfd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3ecc6290_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b3ecc6290_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3ecc6290_7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b3ecc6290_7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3ecc6290_7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b3ecc6290_7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41651cf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41651cf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41651cf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b41651cf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b41651cfd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b41651cfd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41651cfd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b41651cfd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41651cfd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b41651cfd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b41651cfd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b41651cfd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8d2461d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58d2461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41651cfd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b41651cfd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41651cfd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b41651cfd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b41651cfd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b41651cfd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b41651cfd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b41651cfd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41651cfd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41651cfd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41651cfd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b41651cfd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jp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jp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32325"/>
            <a:ext cx="8289900" cy="101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AI agents can coordinate via majority-following beyond human scale</a:t>
            </a:r>
            <a:endParaRPr sz="33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19100" y="4520475"/>
            <a:ext cx="56010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Science Advances </a:t>
            </a:r>
            <a:r>
              <a:rPr b="1" lang="en" sz="1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12</a:t>
            </a:r>
            <a:r>
              <a:rPr lang="en"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, eaea6091 (2026)</a:t>
            </a:r>
            <a:endParaRPr sz="16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</a:t>
            </a:r>
            <a:r>
              <a:rPr lang="en"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/09/2026</a:t>
            </a:r>
            <a:endParaRPr sz="10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" name="Google Shape;58;p13" title="CCAI-ENG-znak-kontra-transp-crop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650" y="148250"/>
            <a:ext cx="561876" cy="1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5225" y="2106350"/>
            <a:ext cx="1219450" cy="1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8425" y="2106350"/>
            <a:ext cx="1219450" cy="1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1625" y="2106350"/>
            <a:ext cx="1127661" cy="1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862550" y="3482250"/>
            <a:ext cx="1494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G. De Marzo</a:t>
            </a:r>
            <a:endParaRPr sz="15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Postdoc at Univ. Konstanz, DE</a:t>
            </a:r>
            <a:b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GS - 700 cit </a:t>
            </a:r>
            <a:endParaRPr sz="15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587088" y="3482238"/>
            <a:ext cx="1494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</a:t>
            </a: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. Castellano</a:t>
            </a:r>
            <a:endParaRPr sz="15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Senior Res. ISC, Roma, IT</a:t>
            </a:r>
            <a:b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GS ~ 24k cit</a:t>
            </a:r>
            <a:endParaRPr sz="15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4311650" y="3482238"/>
            <a:ext cx="1494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D</a:t>
            </a:r>
            <a:r>
              <a:rPr b="1" lang="en" sz="15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. Garcia</a:t>
            </a:r>
            <a:endParaRPr b="1" sz="15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Prof.  at Univ. Konstanz, DE; GS ~ 11k cit</a:t>
            </a:r>
            <a:endParaRPr sz="15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358650" y="812275"/>
            <a:ext cx="789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Timeline:</a:t>
            </a:r>
            <a:endParaRPr sz="12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00" y="1510200"/>
            <a:ext cx="16383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200" y="1510200"/>
            <a:ext cx="16383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0900" y="1510200"/>
            <a:ext cx="16383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376200" y="3125225"/>
            <a:ext cx="1481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arXiv v1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 Sept </a:t>
            </a:r>
            <a:r>
              <a:rPr b="1" lang="en" sz="1800">
                <a:solidFill>
                  <a:schemeClr val="dk2"/>
                </a:solidFill>
              </a:rPr>
              <a:t>2024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2014500" y="3125225"/>
            <a:ext cx="1481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submitted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15 July </a:t>
            </a:r>
            <a:r>
              <a:rPr b="1" lang="en" sz="1800">
                <a:solidFill>
                  <a:schemeClr val="dk2"/>
                </a:solidFill>
              </a:rPr>
              <a:t>2025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759200" y="3125225"/>
            <a:ext cx="1481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published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14 Aug </a:t>
            </a:r>
            <a:r>
              <a:rPr b="1" lang="en" sz="1800">
                <a:solidFill>
                  <a:schemeClr val="dk2"/>
                </a:solidFill>
              </a:rPr>
              <a:t>2026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9200" y="642175"/>
            <a:ext cx="3612050" cy="26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542400" y="4236400"/>
            <a:ext cx="8482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Funding: This project was supported by OpenAI with free API credits under its research program.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358650" y="799050"/>
            <a:ext cx="78999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Motivation: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LLMs lack the sophisticated coordination mechanisms that enable human groups to tackle complex collaborative tasks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Recent transition to meaningful interaction between models (instead of simple ensemble)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AI agents as social actors - their collective patterns can be analyzed without knowledge of internal workings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Recent studies on shared norms with explicit coordination rewards - unclear if coordination behaviour emerge spontaneously without it</a:t>
            </a: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endParaRPr sz="12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358650" y="799050"/>
            <a:ext cx="78999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Assumptions: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mechanism: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majority-following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Agents adopt the opinion held by the majority in the absence of objective information which option is better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Experiments across different group sizes and LLM types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Outcomes: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behaviour of AI agents follows a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universal form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Identification of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critical group sizes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beyond which the coordination becomes exponentially unlikely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Advanced LLMs exhibit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coordination in groups 1000+ agents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, so at scales exceeding typical human informal groups</a:t>
            </a: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endParaRPr sz="12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358650" y="799050"/>
            <a:ext cx="382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Procedure</a:t>
            </a: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: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Group of N agents, each with random binary opinion “A” or “B” at t=0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At each time random selection of agent and time increased by 1/N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selected agent gets the full list of other agents with their opinions (its own not included)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selected agent is asked to supply the opinion it supports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Process iterated until coordination reached or time exceeded (t=10)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Split into smaller groups if incohesive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963650" y="4464525"/>
            <a:ext cx="41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963650" y="914550"/>
            <a:ext cx="3824700" cy="395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</a:t>
            </a: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: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Below you can see the list of all your friends together with the opinion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they support.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You must reply with the opinion you want to support.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opinion must be reported between square brackets.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X7v A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keY B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91c B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gew A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4lO B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…… Reply only with the opinion you want to support, between square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brackets.</a:t>
            </a:r>
            <a:endParaRPr sz="15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75" y="919500"/>
            <a:ext cx="5383449" cy="25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0024" y="755751"/>
            <a:ext cx="3291575" cy="26679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464175" y="3358700"/>
            <a:ext cx="7214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Procedure: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After t=10 the system is evaluated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If all agents agree (they coordinate) -&gt; end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Otherwise split in two according to opinions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Stop if group is cohesive for two iterations in a row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"/>
              <a:buChar char="●"/>
            </a:pP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Large groups are unstable, the transition is around N=30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64175" y="426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Llama 3 70B example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164175" y="426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Measures</a:t>
            </a:r>
            <a:endParaRPr/>
          </a:p>
        </p:txBody>
      </p:sp>
      <p:pic>
        <p:nvPicPr>
          <p:cNvPr descr="\text{coordination level} \quad C=|m|&#10;%59294078-fa22-4cae-9355-d841d2d3151f"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38" y="3515488"/>
            <a:ext cx="27336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text{average group opinion} \quad m=\frac{1}{N}\sum\limits_is_i=\frac{N_+-N_-}{N}&#10;%b8ede088-5630-47d9-a19a-230f793bbc1b"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175" y="1074275"/>
            <a:ext cx="50387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271075" y="1800550"/>
            <a:ext cx="4374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</a:t>
            </a:r>
            <a:r>
              <a:rPr baseline="-25000"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</a:t>
            </a:r>
            <a:r>
              <a:rPr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=± 1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is the opinion of agent </a:t>
            </a:r>
            <a:r>
              <a:rPr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, 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b="1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b="1" baseline="-25000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+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is the number of agents supporting  the first option (i.e., +1),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b="1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b="1" baseline="-25000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-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is the number of agents supporting  the first option (i.e., -1)      </a:t>
            </a:r>
            <a:r>
              <a:rPr b="1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b="1" baseline="-25000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-</a:t>
            </a:r>
            <a:r>
              <a:rPr b="1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=N-N</a:t>
            </a:r>
            <a:r>
              <a:rPr b="1" baseline="-25000" i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+</a:t>
            </a:r>
            <a:endParaRPr b="1" baseline="-25000" i="1"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1900" y="1351126"/>
            <a:ext cx="3636299" cy="319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41" name="Google Shape;141;p20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164175" y="426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Adoption probability</a:t>
            </a:r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688250"/>
            <a:ext cx="4257675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5388" y="4300463"/>
            <a:ext cx="74009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164175" y="1000225"/>
            <a:ext cx="4374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Probability </a:t>
            </a:r>
            <a:r>
              <a:rPr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P(m)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that an agent will adopt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the first opinion as function of the average opinion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10 most popular models for N=50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Approximately follows the function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descr="P(m)=\frac{1}{2}\left[ \tanh(\beta m)+1\right]&#10;%5fa6d6cd-2ad3-4afb-9673-1164eee37173" id="148" name="Google Shape;14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1525" y="2496938"/>
            <a:ext cx="24669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164175" y="2853900"/>
            <a:ext cx="4466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For β=0 we have random choice, the time to coordinate grows exponentially with 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For β=∞ quick coordination, logarithmic times with 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55" name="Google Shape;155;p21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1116675" y="5678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CW model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164175" y="1000225"/>
            <a:ext cx="4374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P(m)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is equal to transition probability in Curie-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Weiss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(CW) model of ferromagnet (via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Glauber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dynamics)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In CW the equilibrium collective opinion can be found by solving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677600" y="1000225"/>
            <a:ext cx="44664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Absence of coordination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: f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or β &lt;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=1 0 the coordination level C keeps fluctuating around 0, no order at all</a:t>
            </a: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Partial coordination: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f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or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&lt;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β &lt;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≈log(N)/2, collective opinion larger than 0 but smaller than 0, fluctuations not strong enough to push full coordination</a:t>
            </a: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Coordination: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for β &gt;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fluctuations are strong enough to lead to full coordination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descr="m^*=\tanh(\beta m^*)&#10;%f364827d-43ff-4e15-b20b-8acaaff48483"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525" y="2495688"/>
            <a:ext cx="1638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5683100" y="5678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Three regimes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302700" y="2884475"/>
            <a:ext cx="437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i="1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β=1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is the critical value: below the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self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-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consistency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equation has only one solution (m*=0) and above three (and m*=0 is unstable)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und by solving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69" name="Google Shape;169;p22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2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506950" y="7001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Three regimes</a:t>
            </a: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5000" y="1060450"/>
            <a:ext cx="38100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413" y="4317988"/>
            <a:ext cx="74009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7196650" y="26722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≈log(N)/2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7196650" y="31033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=1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-153325" y="1342350"/>
            <a:ext cx="4046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Majority force does not depend only on the type of LLM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"/>
              <a:buChar char="●"/>
            </a:pP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The larger the group the weaker the majority force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No major performance difference observed in simple counting when varying model or length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Authors suggest that the effect can be due to the fact the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majority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may carry less importance in larger groups (100/900 vs 2/18)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83" name="Google Shape;183;p23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3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506950" y="7001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Coordination time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111250" y="1283600"/>
            <a:ext cx="4046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Inspecting the mean time to coordinate from random opinions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For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β &gt;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time grows logarithmically with N (GPT-4 Turbo case)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When β &lt;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time grows exponentially 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Llama 3 70B and GPT-4o follow both regimes: for small group sizes we have slowly increasing times and for larger groups the time needed explodes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200" y="875626"/>
            <a:ext cx="3477878" cy="370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194" name="Google Shape;194;p24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4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Critical group size and MMLU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137700" y="1102750"/>
            <a:ext cx="4046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critical group size N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is simply the size where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β = β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Comparison with a measure of models’ 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intelligence - MMLU (massive multitask language understanding)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For reference the critical size for human informal groups (Dunbar number, N</a:t>
            </a:r>
            <a:r>
              <a:rPr baseline="-25000"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≈200)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Results suggest that majority following (so also the ability to coordinate) are strongly tied to the capabilities of LLMs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050" y="438326"/>
            <a:ext cx="3781425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05" name="Google Shape;205;p25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5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/>
        </p:nvSpPr>
        <p:spPr>
          <a:xfrm>
            <a:off x="358650" y="799050"/>
            <a:ext cx="7899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Outcomes: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behaviour of AI agents follows a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universal form</a:t>
            </a:r>
            <a:endParaRPr b="1" sz="1600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Identification of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critical group sizes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beyond which the coordination becomes exponentially unlikely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Advanced LLMs exhibit </a:t>
            </a:r>
            <a:r>
              <a:rPr b="1" lang="en" sz="16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coordination in groups 1000+ agents</a:t>
            </a: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, so at scales exceeding typical human informal groups</a:t>
            </a: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b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</a:br>
            <a:endParaRPr sz="12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ctrTitle"/>
          </p:nvPr>
        </p:nvSpPr>
        <p:spPr>
          <a:xfrm>
            <a:off x="311700" y="832325"/>
            <a:ext cx="6895200" cy="708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Thank you for listening</a:t>
            </a:r>
            <a:endParaRPr sz="46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214" name="Google Shape;214;p26"/>
          <p:cNvCxnSpPr/>
          <p:nvPr/>
        </p:nvCxnSpPr>
        <p:spPr>
          <a:xfrm>
            <a:off x="358661" y="1789800"/>
            <a:ext cx="777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6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22/07/2026</a:t>
            </a:r>
            <a:endParaRPr sz="1000">
              <a:solidFill>
                <a:schemeClr val="lt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16" name="Google Shape;216;p26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7" name="Google Shape;217;p26" title="CCAI-ENG-znak-kontra-transp-crop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650" y="148250"/>
            <a:ext cx="561876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23" name="Google Shape;223;p27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7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Bias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137700" y="1102750"/>
            <a:ext cx="4046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To remove: shuffling opinion names at each iteration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Strong bias if opinions are named “yes” and “no”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182B"/>
              </a:buClr>
              <a:buSzPts val="1600"/>
              <a:buFont typeface="Lexend Deca Light"/>
              <a:buChar char="●"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Names (not meaningful) do not play a role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6800" y="1213588"/>
            <a:ext cx="4654801" cy="188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1525" y="3168075"/>
            <a:ext cx="6215264" cy="18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35" name="Google Shape;235;p28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8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Temperature</a:t>
            </a:r>
            <a:endParaRPr/>
          </a:p>
        </p:txBody>
      </p:sp>
      <p:pic>
        <p:nvPicPr>
          <p:cNvPr id="239" name="Google Shape;23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1325" y="1061200"/>
            <a:ext cx="6829324" cy="187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5100" y="3087197"/>
            <a:ext cx="4016513" cy="19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245450" y="34858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Context window length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47" name="Google Shape;247;p29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29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49" name="Google Shape;249;p29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</a:t>
            </a:r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439275" y="1061200"/>
            <a:ext cx="3824700" cy="166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 2:</a:t>
            </a:r>
            <a:endParaRPr b="1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Below you can see a list of people together with the opinion they support.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You must reply with the opinion you want to support.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opinion must be reported between square brackets.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4576300" y="1061200"/>
            <a:ext cx="3824700" cy="166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 3:</a:t>
            </a:r>
            <a:endParaRPr b="1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list below contains people along with the opinions they endorse.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Please respond with the opinion you’d like to support.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Be sure to enclose the opinion in square brackets.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439275" y="2957600"/>
            <a:ext cx="3824700" cy="2062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 4:</a:t>
            </a:r>
            <a:endParaRPr b="1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You recently subscribed to a social network.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Below you can see the list of all your friends together with the group they joined on the social network.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You must reply with the name of the group you want to join.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name of the group must be reported between square brackets.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4576300" y="3057650"/>
            <a:ext cx="3824700" cy="1862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 5:</a:t>
            </a:r>
            <a:endParaRPr b="1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You recently subscribed to a social network.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Below you can see the list of all your friends together with the opinion they support.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You must reply with the opinion you want to support.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opinion must be reported between square brackets.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60" name="Google Shape;260;p30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62" name="Google Shape;262;p30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</a:t>
            </a:r>
            <a:endParaRPr/>
          </a:p>
        </p:txBody>
      </p:sp>
      <p:pic>
        <p:nvPicPr>
          <p:cNvPr id="264" name="Google Shape;2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3588"/>
            <a:ext cx="8839200" cy="2414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70" name="Google Shape;270;p31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31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Majority counting</a:t>
            </a:r>
            <a:endParaRPr/>
          </a:p>
        </p:txBody>
      </p:sp>
      <p:sp>
        <p:nvSpPr>
          <p:cNvPr id="274" name="Google Shape;274;p31"/>
          <p:cNvSpPr txBox="1"/>
          <p:nvPr/>
        </p:nvSpPr>
        <p:spPr>
          <a:xfrm>
            <a:off x="439275" y="1061200"/>
            <a:ext cx="8426700" cy="86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Prompt:</a:t>
            </a:r>
            <a:endParaRPr b="1">
              <a:solidFill>
                <a:srgbClr val="00182B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Reply with the most frequent letter appearing in the following sequence. The reply must be reported between square brackets.</a:t>
            </a:r>
            <a:endParaRPr sz="13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75" name="Google Shape;2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75500"/>
            <a:ext cx="4143221" cy="29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8021" y="2075500"/>
            <a:ext cx="3974462" cy="29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idx="1" type="subTitle"/>
          </p:nvPr>
        </p:nvSpPr>
        <p:spPr>
          <a:xfrm>
            <a:off x="7790850" y="132026"/>
            <a:ext cx="994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14/09/2026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82" name="Google Shape;282;p32"/>
          <p:cNvCxnSpPr/>
          <p:nvPr/>
        </p:nvCxnSpPr>
        <p:spPr>
          <a:xfrm>
            <a:off x="358650" y="426900"/>
            <a:ext cx="8426700" cy="0"/>
          </a:xfrm>
          <a:prstGeom prst="straightConnector1">
            <a:avLst/>
          </a:prstGeom>
          <a:noFill/>
          <a:ln cap="flat" cmpd="sng" w="9525">
            <a:solidFill>
              <a:srgbClr val="00182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2"/>
          <p:cNvSpPr txBox="1"/>
          <p:nvPr>
            <p:ph idx="1" type="subTitle"/>
          </p:nvPr>
        </p:nvSpPr>
        <p:spPr>
          <a:xfrm>
            <a:off x="1598950" y="132038"/>
            <a:ext cx="1908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Coordination in AI agents</a:t>
            </a:r>
            <a:endParaRPr sz="10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84" name="Google Shape;284;p32"/>
          <p:cNvPicPr preferRelativeResize="0"/>
          <p:nvPr/>
        </p:nvPicPr>
        <p:blipFill rotWithShape="1">
          <a:blip r:embed="rId3">
            <a:alphaModFix/>
          </a:blip>
          <a:srcRect b="0" l="4678" r="50681" t="0"/>
          <a:stretch/>
        </p:blipFill>
        <p:spPr>
          <a:xfrm>
            <a:off x="358650" y="71787"/>
            <a:ext cx="602875" cy="27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8950" y="666750"/>
            <a:ext cx="7606399" cy="417194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/>
          <p:nvPr/>
        </p:nvSpPr>
        <p:spPr>
          <a:xfrm>
            <a:off x="529600" y="568588"/>
            <a:ext cx="40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182B"/>
                </a:solidFill>
                <a:latin typeface="Lexend Deca"/>
                <a:ea typeface="Lexend Deca"/>
                <a:cs typeface="Lexend Deca"/>
                <a:sym typeface="Lexend Deca"/>
              </a:rPr>
              <a:t>Correlations</a:t>
            </a:r>
            <a:endParaRPr/>
          </a:p>
        </p:txBody>
      </p:sp>
      <p:sp>
        <p:nvSpPr>
          <p:cNvPr id="287" name="Google Shape;287;p32"/>
          <p:cNvSpPr txBox="1"/>
          <p:nvPr/>
        </p:nvSpPr>
        <p:spPr>
          <a:xfrm>
            <a:off x="137700" y="1102750"/>
            <a:ext cx="3159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MMLU (Massive Multitask Language Understanding), GPQA (Graduate-level Google-Proof Q&amp;A), HumanEval, Math,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18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MGSM (Multilingual Grade School Math), and the Elo score. Also average of the first five benchmarks (Bench5Avg), since they all have a comparable scale, from 0 to 100</a:t>
            </a:r>
            <a:endParaRPr sz="1600">
              <a:solidFill>
                <a:srgbClr val="0018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